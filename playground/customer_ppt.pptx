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3840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94760"/>
            <a:ext cx="1218895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SMARTER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BFFF"/>
                </a:solidFill>
              </a:rPr>
              <a:t>AI-Powered Email Intelligence — From Inbox to ERP in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5E8"/>
                </a:solidFill>
              </a:rPr>
              <a:t>How DSPy-augmented agents outperform prompt-only pipelines on accuracy, hallucination control, and real-world integration — evaluated on live procurement emails.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96512"/>
            <a:ext cx="2651760" cy="9875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51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</a:rPr>
              <a:t>F1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4096512"/>
            <a:ext cx="2651760" cy="987552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4151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461772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</a:rPr>
              <a:t>Faithfulness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4096512"/>
            <a:ext cx="2651760" cy="98755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4151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61772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</a:rPr>
              <a:t>Hallucination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4096512"/>
            <a:ext cx="2651760" cy="987552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4151376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OpenAI
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461772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5E0"/>
                </a:solidFill>
              </a:rPr>
              <a:t>Integration 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91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CodeForge Research  · 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291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18096"/>
                </a:solidFill>
              </a:rPr>
              <a:t>Azure GPT-4o  ·  DSPy  ·  OpenAI Agent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What customers are struggling with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Procurement teams receive dozens of RFQ emails daily. Processing them manually is slow, error-prone, and blocks ERP workflows.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611880" cy="347472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Manual Data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56231"/>
            <a:ext cx="3611880" cy="2103120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75104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Staff re-key vendor, product, budget, and deadline details from emails into ERP — 1 email takes 20–45 minutes and errors cause delayed bids.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508760"/>
            <a:ext cx="3611880" cy="347472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536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Missing or Wrong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856231"/>
            <a:ext cx="3611880" cy="2103120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975104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Critical fields (warranty terms, AMC pricing, delivery milestones) are often skipped. Incomplete records require back-and-forth with vendors before a bid can proceed.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08760"/>
            <a:ext cx="3611880" cy="347472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536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Risk 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56231"/>
            <a:ext cx="3611880" cy="2103120"/>
          </a:xfrm>
          <a:prstGeom prst="rect">
            <a:avLst/>
          </a:prstGeom>
          <a:solidFill>
            <a:srgbClr val="FDEDE0"/>
          </a:solidFill>
          <a:ln w="9525">
            <a:solidFill>
              <a:srgbClr val="C4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975104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Teams only discover budget ambiguity or undefined scope after submitting a bid. Late risk detection leads to contract disputes and margin loss.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96512"/>
            <a:ext cx="11274552" cy="329184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1239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a Good Solution Looks Like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98848"/>
            <a:ext cx="1127455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98848"/>
            <a:ext cx="201168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902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</a:rPr>
              <a:t>Structured JSON in &lt; 10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59028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Every email field extracted, validated, and ready for ERP — no manual entry.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74552" cy="59436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120640"/>
            <a:ext cx="201168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2120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</a:rPr>
              <a:t>Risk flags surfaced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212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Budget gaps, vague warranty terms, and undefined scopes flagged before the bid is submitted.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42432"/>
            <a:ext cx="1127455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42432"/>
            <a:ext cx="201168" cy="5943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833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</a:rPr>
              <a:t>Works with existing 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5833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Drops into your OpenAI Agent SDK workflow without rearchitecting your stack.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Our Solution: Intelligent 3-Step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DSPy-augmented agents turn unstructured emails into validated, ERP-ready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4" y="1417320"/>
            <a:ext cx="2084831" cy="96012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4" y="1481328"/>
            <a:ext cx="1947671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RAW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4" y="2487168"/>
            <a:ext cx="2084831" cy="132588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2" y="2578608"/>
            <a:ext cx="19019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Procurement RFQ arrives in inbox — unstructured, free-text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5165" y="1810512"/>
            <a:ext cx="201168" cy="18288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11197" y="1417320"/>
            <a:ext cx="2084831" cy="960120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2637" y="1481328"/>
            <a:ext cx="1947671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AGENT 1
Extract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11197" y="2487168"/>
            <a:ext cx="2084831" cy="1325880"/>
          </a:xfrm>
          <a:prstGeom prst="rect">
            <a:avLst/>
          </a:prstGeom>
          <a:solidFill>
            <a:srgbClr val="CCF2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20925" y="2578608"/>
            <a:ext cx="19019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Reads the email. Extracts only what is explicitly stated — no guessing.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6028" y="1810512"/>
            <a:ext cx="201168" cy="182880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52060" y="1417320"/>
            <a:ext cx="2084831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3500" y="1481328"/>
            <a:ext cx="1947671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DSPy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2060" y="2487168"/>
            <a:ext cx="2084831" cy="1325880"/>
          </a:xfrm>
          <a:prstGeom prst="rect">
            <a:avLst/>
          </a:prstGeom>
          <a:solidFill>
            <a:srgbClr val="DBEA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1788" y="2578608"/>
            <a:ext cx="19019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Validates schema, adds domain-specific fields, quarantines noise. Zero hallucination.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6891" y="1810512"/>
            <a:ext cx="201168" cy="1828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2923" y="1417320"/>
            <a:ext cx="2084831" cy="96012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4363" y="1481328"/>
            <a:ext cx="1947671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AGENT 2
Enrich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92923" y="2487168"/>
            <a:ext cx="2084831" cy="132588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02651" y="2578608"/>
            <a:ext cx="19019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Fills gaps using domain knowledge. Flags risks. Produces final validated record.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7754" y="1810512"/>
            <a:ext cx="201168" cy="1828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3786" y="1417320"/>
            <a:ext cx="2084831" cy="96012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5226" y="1481328"/>
            <a:ext cx="1947671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STRUCTURED
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3786" y="2487168"/>
            <a:ext cx="2084831" cy="1325880"/>
          </a:xfrm>
          <a:prstGeom prst="rect">
            <a:avLst/>
          </a:prstGeom>
          <a:solidFill>
            <a:srgbClr val="D1FAE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3514" y="2578608"/>
            <a:ext cx="19019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ERP-ready JSON — complete fields, risk flags, confidence score, faithfulness check.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931920"/>
            <a:ext cx="4663440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39593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DSPy  =  Declarative Self-improving Python  (compiled prompt optimiser)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407408"/>
            <a:ext cx="11274552" cy="329184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this architecture wins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09744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09744"/>
            <a:ext cx="18288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9194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</a:rPr>
              <a:t>No hallucination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919472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DSPy only outputs what the email contains or what domain knowledge justifies.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76672"/>
            <a:ext cx="11274552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376672"/>
            <a:ext cx="18288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54864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</a:rPr>
              <a:t>Domain-aware schema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548640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Schema adapts to each email's domain — no IT fields on a welding robot RFQ.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943600"/>
            <a:ext cx="18288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605332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</a:rPr>
              <a:t>Honest risk flagging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605332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Missing scope, vague warranties, budget ambiguity — all surfaced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Live Example: Procurement Email → Structured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Email 01 — Delta Infrastructure, Welding Robots RFQ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394960" cy="5468112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5394960" cy="329184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149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RAW EMAIL (excerpt)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</a:rPr>
              <a:t>From: sandeep.rao@delta-infra.com
To: bids@acmecorp.com
Subject: Welding Robots – Looking for a Good Vendor, Thought of You Guys
Hi,
We met at the Mumbai Manufacturing Expo (Feb 2026). We need 15 units of 6-axis industrial welding robots for our Pune plant.
Preferred brands: KUKA or ABB (or equivalent).
Budget: ₹2.2 crore (includes delivery + installation).
AMC pricing needed separately.
Delivery by: August 15, 2026 | Line go-live: September 1, 2026
Bid deadline: June 10, 2026
Please share warranty terms.
— Sandeep Rao, Procurement Head, +91-98201-44321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56D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2512" y="987552"/>
            <a:ext cx="5349240" cy="5468112"/>
          </a:xfrm>
          <a:prstGeom prst="rect">
            <a:avLst/>
          </a:prstGeom>
          <a:solidFill>
            <a:srgbClr val="DBEAFF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987552"/>
            <a:ext cx="5349240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0149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STRUCTURED OUTPUT  (DSPy Pipeline)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389888"/>
            <a:ext cx="5349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72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Buyer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47218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Delta Infrastructure Pvt. Ltd.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1828800"/>
            <a:ext cx="5349240" cy="420624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110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9110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Sandeep Rao, Procurement 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2267712"/>
            <a:ext cx="5349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50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3500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6-axis industrial welding robots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2706624"/>
            <a:ext cx="5349240" cy="420624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Quantity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788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15 units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3145536"/>
            <a:ext cx="5349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2278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₹2.2 crore (delivery + install incl.)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3584448"/>
            <a:ext cx="5349240" cy="420624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667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AMC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6667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Requested separately — scope undefined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4023360"/>
            <a:ext cx="5349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1056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Preferred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10565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KUKA, ABB or equivalent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4462272"/>
            <a:ext cx="5349240" cy="420624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544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5445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Aug 15, 2026  |  Go-live: Sep 1,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4901184"/>
            <a:ext cx="534924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983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Bid Deadline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9834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June 10, 2026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5340096"/>
            <a:ext cx="5349240" cy="420624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422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6DB"/>
                </a:solidFill>
              </a:rPr>
              <a:t>Warranty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54223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02C"/>
                </a:solidFill>
              </a:rPr>
              <a:t>Requested — terms not yet provided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5779008"/>
            <a:ext cx="5349240" cy="640080"/>
          </a:xfrm>
          <a:prstGeom prst="rect">
            <a:avLst/>
          </a:prstGeom>
          <a:solidFill>
            <a:srgbClr val="FFEDC2"/>
          </a:solidFill>
          <a:ln w="9525">
            <a:solidFill>
              <a:srgbClr val="9240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82472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24009"/>
                </a:solidFill>
              </a:rPr>
              <a:t>Risk Flags: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82472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02C"/>
                </a:solidFill>
              </a:rPr>
              <a:t>AMC scope undefined  ·  Warranty terms vague  ·  No RFQ reference number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07161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B7B47"/>
                </a:solidFill>
              </a:rPr>
              <a:t>Confidence: 89%  ·  Faithfulness: 93%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Evaluation: How We Measure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Four customer-aligned metrics — evaluated on 2 representative emails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5623560" cy="2697480"/>
          </a:xfrm>
          <a:prstGeom prst="rect">
            <a:avLst/>
          </a:prstGeom>
          <a:solidFill>
            <a:srgbClr val="DBEA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201168" cy="2697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078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2C"/>
                </a:solidFill>
              </a:rPr>
              <a:t>F1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90472"/>
            <a:ext cx="5029200" cy="16459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819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Balances precision (no extra junk) and recall (nothing missed).
Measures how accurately the pipeline extracts the right fields.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1343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865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Prompt-Only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609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501A"/>
                </a:solidFill>
              </a:rPr>
              <a:t>0.61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231343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3865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DSPy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6609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56DB"/>
                </a:solidFill>
              </a:rPr>
              <a:t>0.87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2404872"/>
            <a:ext cx="658368" cy="4023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441448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+43%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987552"/>
            <a:ext cx="5623560" cy="269748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987552"/>
            <a:ext cx="201168" cy="2697480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078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2C"/>
                </a:solidFill>
              </a:rPr>
              <a:t>Hallucination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7688" y="1490472"/>
            <a:ext cx="5029200" cy="16459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15819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% of output fields that are fabricated — not grounded in the email text.
Lower is better. Hallucinated data creates false bids and contract disputes.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7688" y="231343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23865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Prompt-Only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6609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501A"/>
                </a:solidFill>
              </a:rPr>
              <a:t>31%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25128" y="231343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238658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DSPy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8" y="266090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9181A"/>
                </a:solidFill>
              </a:rPr>
              <a:t>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19688" y="2404872"/>
            <a:ext cx="658368" cy="402336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56264" y="2441448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−77%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22192"/>
            <a:ext cx="5623560" cy="2697480"/>
          </a:xfrm>
          <a:prstGeom prst="rect">
            <a:avLst/>
          </a:prstGeom>
          <a:solidFill>
            <a:srgbClr val="D1FAE5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822192"/>
            <a:ext cx="201168" cy="269748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913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2C"/>
                </a:solidFill>
              </a:rPr>
              <a:t>Confidence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325112"/>
            <a:ext cx="5029200" cy="16459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41655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System's certainty that all critical fields are present and consistent.
High confidence means the record is ERP-ready without human review.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14807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22122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Prompt-Only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49554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501A"/>
                </a:solidFill>
              </a:rPr>
              <a:t>62%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514807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522122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DSPy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549554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B7B47"/>
                </a:solidFill>
              </a:rPr>
              <a:t>89%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5239512"/>
            <a:ext cx="658368" cy="402336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85816" y="5276088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+44%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3822192"/>
            <a:ext cx="5623560" cy="2697480"/>
          </a:xfrm>
          <a:prstGeom prst="rect">
            <a:avLst/>
          </a:prstGeom>
          <a:solidFill>
            <a:srgbClr val="CCF2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27648" y="3822192"/>
            <a:ext cx="201168" cy="2697480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7688" y="3913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02C"/>
                </a:solidFill>
              </a:rPr>
              <a:t>Faithfulness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47688" y="4325112"/>
            <a:ext cx="5029200" cy="16459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7688" y="441655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</a:rPr>
              <a:t>How closely the extracted data reflects what the email actually says.
Unfaithful extraction inverts roles or paraphrases facts, causing errors.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47688" y="514807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9128" y="522122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Prompt-Only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9128" y="549554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501A"/>
                </a:solidFill>
              </a:rPr>
              <a:t>0.68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25128" y="5148072"/>
            <a:ext cx="21488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16568" y="522122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</a:rPr>
              <a:t>DSPy Pipeline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16568" y="549554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7A85"/>
                </a:solidFill>
              </a:rPr>
              <a:t>0.91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19688" y="5239512"/>
            <a:ext cx="658368" cy="402336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56264" y="5276088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+34%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Integration with Your 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DSPy pipeline works natively with OpenAI Agent SDK — no rearchitecting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74552" cy="749808"/>
          </a:xfrm>
          <a:prstGeom prst="rect">
            <a:avLst/>
          </a:prstGeom>
          <a:solidFill>
            <a:srgbClr val="FEE2E2"/>
          </a:solidFill>
          <a:ln w="9525">
            <a:solidFill>
              <a:srgbClr val="B9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87552"/>
            <a:ext cx="201168" cy="749808"/>
          </a:xfrm>
          <a:prstGeom prst="rect">
            <a:avLst/>
          </a:prstGeom>
          <a:solidFill>
            <a:srgbClr val="B9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0241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9181A"/>
                </a:solidFill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Most customers already run workflows on OpenAI Agent SDK. Adopting a DSPy-based pipeline must not force a full rewrite of existing agent orchestration.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01952"/>
            <a:ext cx="11274552" cy="329184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29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SOLUTION — 3 Integration 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11274552" cy="1261872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04288"/>
            <a:ext cx="201168" cy="12618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377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56DB"/>
                </a:solidFill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9572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DSPy Module as a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61488"/>
            <a:ext cx="10241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Wrap the DSPy StructuralAudit module as an OpenAI function tool.
Your existing orchestrator calls it like any other tool — no pipeline change needed.
Input: raw email text  →  Output: validated JSON record.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11274552" cy="1261872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201168" cy="1261872"/>
          </a:xfrm>
          <a:prstGeom prst="rect">
            <a:avLst/>
          </a:prstGeom>
          <a:solidFill>
            <a:srgbClr val="057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7307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57A85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Agent Handoff Compatible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10241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Agent 1 and Agent 2 are standard OpenAI-compatible agents.
Use the SDK's built-in handoff mechanism: Agent1 extracts → DSPy audits → Agent2 enriches.
Slot into your existing multi-agent workflow with 3 lines of config.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10912"/>
            <a:ext cx="11274552" cy="1261872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10912"/>
            <a:ext cx="201168" cy="1261872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08406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7B47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02352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</a:rPr>
              <a:t>Standard JSON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68112"/>
            <a:ext cx="10241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5568"/>
                </a:solidFill>
              </a:rPr>
              <a:t>The final record is plain JSON — no proprietary schema.
Drop it into your ERP adapter, CRM, or bid management system unchanged.
Faithfulness score and risk flags travel with the record for downstream QA.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45936"/>
            <a:ext cx="11274552" cy="42062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39165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Result: Teams already on OpenAI Agent SDK can adopt the DSPy pipeline incrementally — one agent at a time — without service disruption.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Summary: What Changes for Your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DSPy pipeline vs prompt-only — customer impact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9264"/>
            <a:ext cx="3520440" cy="347472"/>
          </a:xfrm>
          <a:prstGeom prst="rect">
            <a:avLst/>
          </a:prstGeom>
          <a:solidFill>
            <a:srgbClr val="C4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9669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PROMPT-ONLY (Before)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969264"/>
            <a:ext cx="388620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996696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DSPy PIPELINE (After)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16736"/>
            <a:ext cx="3703320" cy="347472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34416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We Measured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64208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288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F1 Score  (field extraction accuracy)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737360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5968" y="1801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0.61  — 39% of fields missed or wrong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737360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801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0.87  — best-in-class extraction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22576"/>
            <a:ext cx="11247120" cy="64008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4871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Hallucination Rate  (fabricated data)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395728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24597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31%  — fabricated fields per email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2395728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459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7%   — near-zero hallucination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980944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455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Confidence Score  (ERP-readiness)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054096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31181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62%  — frequent human review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3054096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992" y="31181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89%  — records are ERP-ready as-is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39312"/>
            <a:ext cx="11247120" cy="64008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80390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Faithfulness  (data grounded in email)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712464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5968" y="3776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0.68  — role inversions and paraphrasing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712464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37764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0.91  — faithful to source 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9768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4622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Risk Flag Coverage  (issues surfaced)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370832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968" y="4434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6 of 7 emails had empty risk_flags []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4370832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36992" y="4434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Every ambiguity flagged automatically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56048"/>
            <a:ext cx="11247120" cy="640080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1206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Domain Contamination  (wrong schema fields)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029200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50932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8–12 IT/SaaS fields injected per email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18120" y="5029200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36992" y="50932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0–2 irrelevant fields per email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614416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779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02C"/>
                </a:solidFill>
              </a:rPr>
              <a:t>Integration  (drop-in to existing stack)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5687568"/>
            <a:ext cx="352044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15968" y="57515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7B47"/>
                </a:solidFill>
              </a:rPr>
              <a:t>Tight coupling to prompts — hard to swap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18120" y="5687568"/>
            <a:ext cx="38862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0B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36992" y="57515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B47"/>
                </a:solidFill>
              </a:rPr>
              <a:t>OpenAI Agent SDK tool — 3 lines of config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6419088"/>
            <a:ext cx="11183112" cy="16459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18096"/>
                </a:solidFill>
              </a:rPr>
              <a:t>Evaluated on 2 representative procurement RFQ emails  ·  Azure GPT-4o  ·  temperature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8"/>
                </a:solidFill>
              </a:rPr>
              <a:t>Three actions to move from evaluation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201168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74552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01168" cy="1600200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243584"/>
            <a:ext cx="1051560" cy="329184"/>
          </a:xfrm>
          <a:prstGeom prst="rect">
            <a:avLst/>
          </a:prstGeom>
          <a:solidFill>
            <a:srgbClr val="0B7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2618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1243584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Deploy DSPy Pipeline as Production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6459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The DSPy pipeline scores 87% F1 and 89% confidence vs 62% for prompt-only. It is ready to handle live procurement emails across all domains with minimal human 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16352"/>
            <a:ext cx="11274552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16352"/>
            <a:ext cx="201168" cy="1600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2962656"/>
            <a:ext cx="1051560" cy="32918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809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2962656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Integrate via OpenAI Agent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364992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Wrap DSPy StructuralAudit as an SDK tool. Connect Agent 1 and Agent 2 using the SDK's handoff pattern. Your existing orchestration layer requires no changes — estimated integration: 1 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35424"/>
            <a:ext cx="11274552" cy="1600200"/>
          </a:xfrm>
          <a:prstGeom prst="rect">
            <a:avLst/>
          </a:prstGeom>
          <a:solidFill>
            <a:srgbClr val="F7F9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535424"/>
            <a:ext cx="201168" cy="1600200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8" y="4681728"/>
            <a:ext cx="1051560" cy="329184"/>
          </a:xfrm>
          <a:prstGeom prst="rect">
            <a:avLst/>
          </a:prstGeom>
          <a:solidFill>
            <a:srgbClr val="9240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0001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4681728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02C"/>
                </a:solidFill>
              </a:rPr>
              <a:t>Boost Coverage with BootstrapFewShot (Optional)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5084064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5568"/>
                </a:solidFill>
              </a:rPr>
              <a:t>The DSPy audit currently runs zero-shot. Adding 5–10 labelled examples via BootstrapFewShot will push F1 from 0.87 toward 0.95+ and further reduce the hallucination rate below 3%.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3185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Goal: Procurement teams spend zero time on data entry — and catch every risk before the bid goes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