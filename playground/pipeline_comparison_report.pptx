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3657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11880"/>
            <a:ext cx="1218895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PROCUREMENT EMAIL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BFFF"/>
                </a:solidFill>
              </a:rPr>
              <a:t>DSPy vs Prompt-Driven: A Head-to-Head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5E8"/>
                </a:solidFill>
              </a:rPr>
              <a:t>How well do different multi-agent architectures extract, structure, and validate real-world procurement RFQ emails across diverse industries?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77639"/>
            <a:ext cx="237744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5E0"/>
                </a:solidFill>
              </a:rPr>
              <a:t>Emails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977639"/>
            <a:ext cx="2377440" cy="1005840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5E0"/>
                </a:solidFill>
              </a:rPr>
              <a:t>Domains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977639"/>
            <a:ext cx="2377440" cy="100584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5E0"/>
                </a:solidFill>
              </a:rPr>
              <a:t>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3977639"/>
            <a:ext cx="2377440" cy="100584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5E0"/>
                </a:solidFill>
              </a:rPr>
              <a:t>Pipelines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CodeForge Research  ·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18096"/>
                </a:solidFill>
              </a:rPr>
              <a:t>Azure GPT-4o  ·  temperature = 0  · 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Introduction &amp;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What we are building and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86868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03327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9844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Automatically convert unstructured procurement RFQ emails into complete, validated, domain-aware structured JSON records — ready for downstream ERP or sourcing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3392"/>
            <a:ext cx="5623560" cy="384048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029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WITHOUT DSPy  —  3-Agent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623560" cy="3383280"/>
          </a:xfrm>
          <a:prstGeom prst="rect">
            <a:avLst/>
          </a:prstGeom>
          <a:solidFill>
            <a:srgbClr val="FDEDE0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87168"/>
            <a:ext cx="822960" cy="27432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0545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487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Forensic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77977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Reads email, extracts only stated facts, builds domain skeleton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3346704"/>
            <a:ext cx="18288" cy="18288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511296"/>
            <a:ext cx="822960" cy="27432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2958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5112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Structural Auditor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80390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Adds missing fields (empty string), quarantines noisy fields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4370832"/>
            <a:ext cx="18288" cy="18288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35424"/>
            <a:ext cx="822960" cy="27432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55371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354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Enrichment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8280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Fills all gaps via domain knowledge, resolves, validates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1993392"/>
            <a:ext cx="56235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029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DSPy  —  Agent + DSPy +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7648" y="2377440"/>
            <a:ext cx="5623560" cy="3383280"/>
          </a:xfrm>
          <a:prstGeom prst="rect">
            <a:avLst/>
          </a:prstGeom>
          <a:solidFill>
            <a:srgbClr val="DBEA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37376" y="2487168"/>
            <a:ext cx="82296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505456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2487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Document Extractor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77977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Reads email, extracts stated facts, builds domain skeleton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346704"/>
            <a:ext cx="18288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37376" y="3511296"/>
            <a:ext cx="82296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352958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DSPy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6" y="35112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StructuralAudit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1776" y="380390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Compiled signature audits schema, adds domain fields, quarantines noise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370832"/>
            <a:ext cx="18288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37376" y="4535424"/>
            <a:ext cx="82296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455371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1776" y="45354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Enrichment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1776" y="48280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Fills all gaps, resolves review_section, validates final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70448"/>
            <a:ext cx="11274552" cy="71323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9436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</a:rPr>
              <a:t>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63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Azure GPT-4o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59436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</a:rPr>
              <a:t>Temperature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6163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0.0 (deterministic)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9436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</a:rPr>
              <a:t>Emails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6163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10 procurement RFQs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59436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</a:rPr>
              <a:t>Prompts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6163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prompts.json (all agents)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9436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</a:rPr>
              <a:t>DSPy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163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Predict(StructuralAudit) — zero-shot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10 real-world procurement emails across 7 industry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384048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033271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033271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Email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033271"/>
            <a:ext cx="2423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033271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4184" y="1033271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1033271"/>
            <a:ext cx="18745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6104" y="1033271"/>
            <a:ext cx="12070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490472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1490472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1490472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Manufacturing RFQ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1490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₹2.2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1490472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Delta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1490472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Pune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1481328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76104" y="14996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002536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002536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2002536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Manufacturing RFQ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2002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€18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4184" y="2002536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Greenfield 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2002536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Leipzig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1993392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201168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395728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2514600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251460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2032" y="2514600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IT Hardware RFQ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$1.2 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4184" y="2514600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NovaTech Solutions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55864" y="2514600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Bangalore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21240" y="2505456"/>
            <a:ext cx="1170432" cy="274320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6104" y="25237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9181A"/>
                </a:solidFill>
              </a:rPr>
              <a:t>urgent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907792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026664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3026664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OLED Panels 50K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3026664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Electronics RFQ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0912" y="3026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$750 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4184" y="3026664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Metro Display Tech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3026664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Shenzhen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1240" y="3017520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76104" y="3035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419856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" y="353872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3538728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2032" y="3538728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Facilities RFQ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0912" y="3538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₹85 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44184" y="353872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GlobalSpace Offices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5864" y="3538728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Hyderabad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21240" y="3529584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76104" y="35478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4050792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" y="4050792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Smartphones 1,200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4050792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Consumer/Retail RFQ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0912" y="40507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₹6.2 Cr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44184" y="4050792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ConnectHub India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55864" y="4050792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Delhi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21240" y="4041648"/>
            <a:ext cx="1170432" cy="274320"/>
          </a:xfrm>
          <a:prstGeom prst="rect">
            <a:avLst/>
          </a:prstGeom>
          <a:solidFill>
            <a:srgbClr val="CCF2F4"/>
          </a:solidFill>
          <a:ln w="9525">
            <a:solidFill>
              <a:srgbClr val="05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76104" y="40599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7A85"/>
                </a:solidFill>
              </a:rPr>
              <a:t>informal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443984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" y="4562856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" y="4562856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Electric Vans x75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42032" y="4562856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Fleet Procurement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0912" y="4562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₹18 Cr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44184" y="4562856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UrbanMove Logistics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55864" y="4562856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Navi Mumbai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21240" y="4553712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76104" y="45720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56048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5074920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" y="5074920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Kitchen Equipment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42032" y="5074920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Hospitality RFQ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10912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£360 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44184" y="5074920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GrandVista Hotels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55864" y="5074920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Edinburgh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21240" y="5065776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76104" y="5084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5468112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2064" y="5586984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" y="5586984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Smart Classrooms 500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42032" y="5586984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Govt. Tender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10912" y="55869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₹42 Cr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44184" y="5586984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State Edu Dept.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55864" y="5586984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500 schools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921240" y="5577840"/>
            <a:ext cx="1170432" cy="274320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976104" y="55961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</a:rPr>
              <a:t>formal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80176"/>
            <a:ext cx="11274552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2064" y="609904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6112" y="6099048"/>
            <a:ext cx="1527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Aluminium Supply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42032" y="6099048"/>
            <a:ext cx="2350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12-month Contract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10912" y="6099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~₹8 Cr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44184" y="609904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FastPack Mfg.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55864" y="6099048"/>
            <a:ext cx="18013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Bhiwandi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21240" y="6089904"/>
            <a:ext cx="1170432" cy="274320"/>
          </a:xfrm>
          <a:prstGeom prst="rect">
            <a:avLst/>
          </a:prstGeom>
          <a:solidFill>
            <a:srgbClr val="CCF2F4"/>
          </a:solidFill>
          <a:ln w="9525">
            <a:solidFill>
              <a:srgbClr val="05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76104" y="61081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7A85"/>
                </a:solidFill>
              </a:rPr>
              <a:t>informal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Coverage: 7 domain types  ·  4 currencies (INR, EUR, USD, GBP)  ·  Single-lot and multi-phase deliveries  ·  Domestic and international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Evaluation Criteria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Three primary metrics scored 0–10 per email, plus validation quality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5623560" cy="2606040"/>
          </a:xfrm>
          <a:prstGeom prst="rect">
            <a:avLst/>
          </a:prstGeom>
          <a:solidFill>
            <a:srgbClr val="DBEA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201168" cy="2606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133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18872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CORRECTNESS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572768"/>
            <a:ext cx="5056632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Extracted values must match what the email explicitly states.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0299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Facts in extracted_values: exact wording, no paraphrasing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Inferences and defaults must be labeled, not presented as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61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No hallucinated values, no swapped roles (buyer vs vendor)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127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Computed fields (lead_time, unit_price) must show their basis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024128"/>
            <a:ext cx="5623560" cy="2606040"/>
          </a:xfrm>
          <a:prstGeom prst="rect">
            <a:avLst/>
          </a:prstGeom>
          <a:solidFill>
            <a:srgbClr val="CCF2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1024128"/>
            <a:ext cx="201168" cy="2606040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1133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7A85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118872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0256" y="1572768"/>
            <a:ext cx="5056632" cy="18288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All fields a downstream procurement system needs must be present.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0299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Domain-critical fields: payment_terms, certifications, delivery milestones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23957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No cross-domain bleed (no IT SaaS fields in a manufacturing RFQ)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761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Specialty requirements captured: defect SLA, AMC, staggered 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1272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Fields absent from the email must still appear (marked as empty/needs-input)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49040"/>
            <a:ext cx="5623560" cy="2606040"/>
          </a:xfrm>
          <a:prstGeom prst="rect">
            <a:avLst/>
          </a:prstGeom>
          <a:solidFill>
            <a:srgbClr val="FDEDE0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49040"/>
            <a:ext cx="201168" cy="2606040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858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501A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39136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4297680"/>
            <a:ext cx="5056632" cy="18288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Output must be logically grouped, consistent, and machine-readable.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7548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Nested sections preferred: financial{}, timeline{}, parties{}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1206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Flat 50-key dumps are penalised — hard to consume programmatically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4864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Consistent schema across all 10 emails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52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No redundant keys capturing the same data under different names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3749040"/>
            <a:ext cx="5623560" cy="2606040"/>
          </a:xfrm>
          <a:prstGeom prst="rect">
            <a:avLst/>
          </a:prstGeom>
          <a:solidFill>
            <a:srgbClr val="D1FAE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7648" y="3749040"/>
            <a:ext cx="201168" cy="260604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0256" y="3858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7B47"/>
                </a:solidFill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39136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VALIDATION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0256" y="4297680"/>
            <a:ext cx="5056632" cy="1828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0256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Validation section must surface real risks and be actionable.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0256" y="47548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risk_flags must name specific issues, not be an empty array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1206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completeness rating must be honest — no 'complete' when fields were inferred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0256" y="54864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inconsistencies must flag budget ambiguity, undefined scope, etc.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256" y="5852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  summary sentence must give a clear readiness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Email-by-Email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Each metric scored 0–10  |  Maximum 30 per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969264"/>
            <a:ext cx="3291840" cy="329184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996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WITHOUT DSPy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969264"/>
            <a:ext cx="329184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996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 DSPy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98448"/>
            <a:ext cx="10625328" cy="36576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344168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344168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134416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Corr.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Cov.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Str.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1344168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Corr.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Cov.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13441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Str.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1344168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664208"/>
            <a:ext cx="106253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181965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8196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Welding Robots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18196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Mfg. RFQ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8736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9984" y="1773936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1773936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1664208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18196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32136" y="1773936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2136" y="1773936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286000"/>
            <a:ext cx="10625328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4414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244144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EV Battery Packs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244144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Mfg. RFQ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8736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9984" y="2395728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9984" y="2395728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79" y="2286000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4504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0888" y="24414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32136" y="2395728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32136" y="2395728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2907792"/>
            <a:ext cx="106253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06324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06324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Laptop Procurement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306324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IT Hardware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5968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8736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9984" y="3017520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9984" y="3017520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2907792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18120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04504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90888" y="3063240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32136" y="3017520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32136" y="3017520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529584"/>
            <a:ext cx="10625328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36850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368503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OLED Panels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368503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Electronics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15968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02352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88736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9984" y="3639312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9984" y="3639312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26679" y="3529584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18120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04504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0888" y="368503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32136" y="3639312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32136" y="3639312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151376"/>
            <a:ext cx="106253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430682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" y="4306824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Office Furniture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88920" y="4306824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Facilities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5968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02352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8736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29984" y="4261104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9984" y="4261104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26679" y="4151376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18120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04504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90888" y="430682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232136" y="4261104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32136" y="4261104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4773168"/>
            <a:ext cx="10625328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492861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8680" y="492861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Smartphones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8920" y="492861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Consumer/Retail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15968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02352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88736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29984" y="4882896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29984" y="4882896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26679" y="4773168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18120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604504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90888" y="49286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232136" y="4882896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32136" y="4882896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5394960"/>
            <a:ext cx="106253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2920" y="55504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" y="555040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Electric Vans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88920" y="55504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Fleet Proc.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15968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02352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9"/>
                </a:solidFill>
              </a:rPr>
              <a:t>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88736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81A"/>
                </a:solidFill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29984" y="5504688"/>
            <a:ext cx="731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29984" y="5504688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9181A"/>
                </a:solidFill>
              </a:rPr>
              <a:t>18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26679" y="5394960"/>
            <a:ext cx="45720" cy="603504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818120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04504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90888" y="555040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7B47"/>
                </a:solidFill>
              </a:rPr>
              <a:t>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232136" y="5504688"/>
            <a:ext cx="731520" cy="384048"/>
          </a:xfrm>
          <a:prstGeom prst="rect">
            <a:avLst/>
          </a:prstGeom>
          <a:solidFill>
            <a:srgbClr val="D1FAE5"/>
          </a:solidFill>
          <a:ln w="9525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232136" y="5504688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7B47"/>
                </a:solidFill>
              </a:rPr>
              <a:t>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6016752"/>
            <a:ext cx="10625328" cy="59436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8680" y="6181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15968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501A"/>
                </a:solidFill>
              </a:rPr>
              <a:t>6.0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02352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501A"/>
                </a:solidFill>
              </a:rPr>
              <a:t>6.9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88736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501A"/>
                </a:solidFill>
              </a:rPr>
              <a:t>4.9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675120" y="6181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501A"/>
                </a:solidFill>
              </a:rPr>
              <a:t>17.7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726679" y="6016752"/>
            <a:ext cx="45720" cy="59436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818120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6DB"/>
                </a:solidFill>
              </a:rPr>
              <a:t>8.4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04504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6DB"/>
                </a:solidFill>
              </a:rPr>
              <a:t>7.7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90888" y="618134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6DB"/>
                </a:solidFill>
              </a:rPr>
              <a:t>9.0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77272" y="6181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6DB"/>
                </a:solidFill>
              </a:rPr>
              <a:t>25.1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Score legend:    Green = strong (8+)     Amber = acceptable (6-7)     Red = weak (&lt;6)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Findings: Correctness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Where each pipeline succeeds and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669280" cy="329184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14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WITHOUT DSPy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987552"/>
            <a:ext cx="566928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014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DSPy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89888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89888"/>
            <a:ext cx="201168" cy="118872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481328"/>
            <a:ext cx="914400" cy="219456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904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75564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Field contamination — all 7 emails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048256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Agent2 injects IT/SaaS fields into every email regardless of domain: os_preference, uptime_sla_percent, disaster_recovery_rto_rpo, escrow_arrangement, data_residency_requirement. Agent3 then burns 8-12 drops per email undoing this.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51760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51760"/>
            <a:ext cx="201168" cy="118872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743200"/>
            <a:ext cx="914400" cy="219456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523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Factual inversion — email_03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1012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vendor_name = 'NovaTech Solutions' — the buyer, not the vendor. Roles are swapped in the output.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2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201168" cy="118872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05072"/>
            <a:ext cx="914400" cy="219456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14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793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False prior relationship — email_02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past_relationship = 'existing_vendor' on Greenfield Auto, which is a cold outreach RFQ. Not stated in the email.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75504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75504"/>
            <a:ext cx="201168" cy="118872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266944"/>
            <a:ext cx="914400" cy="219456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760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4126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Empty risk_flags — 6 of 7 emails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3387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Validation reports risk_flags: [] even when AMC scope, warranty terms, and defect SLA are all undefined.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389888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389888"/>
            <a:ext cx="201168" cy="118872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1481328"/>
            <a:ext cx="914400" cy="219456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4904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75564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Overconfident completeness — email_03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2048256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completeness = 'complete' but warranty, penalty clause, and payment schedule were inferred from domain knowledge — not stated. Should be 'mostly_complete'.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51760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651760"/>
            <a:ext cx="201168" cy="118872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37960" y="2743200"/>
            <a:ext cx="914400" cy="219456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7523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0175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Schema inconsistency — email_07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331012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open_items returned as a dict object instead of the specified array format. Breaks downstream JSON consumers.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913632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913632"/>
            <a:ext cx="201168" cy="118872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37960" y="4005072"/>
            <a:ext cx="914400" cy="219456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014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MINOR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2793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record_type imprecision — 3 emails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45720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context.record_type = 'inquiry' used for formal RFQs. 'rfq' is a more precise value for routing purposes.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175504"/>
            <a:ext cx="56692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5175504"/>
            <a:ext cx="201168" cy="11887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37960" y="5266944"/>
            <a:ext cx="914400" cy="219456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52760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54126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</a:rPr>
              <a:t>No issues — emails 04, 05, 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833872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Fully correct: right domain, right fields, domain-specific certs identified (BIFMA, UN38.3, BIS), defect SLA filled from industry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Output Structure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Schema design and measurable output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623560" cy="329184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05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WITHOUT DSPy — Output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16736"/>
            <a:ext cx="5623560" cy="3310128"/>
          </a:xfrm>
          <a:prstGeom prst="rect">
            <a:avLst/>
          </a:prstGeom>
          <a:solidFill>
            <a:srgbClr val="FDEDE0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email_meta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3898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from, to, date, subject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55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75564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domain, request_type, summary, tone, relationship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extracted_values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2140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PRODUCT/SERVICE, QUANTITIES, FINANCIAL, DATES, …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tag_list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48716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40–60 flat snake_case keys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52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sender_notes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8529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[ array of strings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review_decisions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2186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key: { action, destination, reason }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01A"/>
                </a:solidFill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58444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budget_feasibility, timeline_assessment,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95020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  missing_critical_fields[], risk_flags[]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987552"/>
            <a:ext cx="562356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005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DSPy — Output 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1316736"/>
            <a:ext cx="5623560" cy="3310128"/>
          </a:xfrm>
          <a:prstGeom prst="rect">
            <a:avLst/>
          </a:prstGeom>
          <a:solidFill>
            <a:srgbClr val="DBEA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1389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document_meta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13898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sender, recipient, date, title, document_type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1755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175564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domain, record_type, summary, tone, intent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121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extracted_values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212140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flat facts sourced only from the email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field_inventory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248716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financial{}, timeline{}, parties{},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28529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  requirements{}, contacts{}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32186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open_items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32186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[ ambiguities quoted from email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5844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resolution_log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358444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key: { action, destination, reason }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9502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395020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{ completeness, missing_inputs[], inconsistencies[],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431596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  risk_flags[], summary 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36592"/>
            <a:ext cx="11274552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501A"/>
                </a:solidFill>
              </a:rPr>
              <a:t>WITHOUT DSPy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BEAFF"/>
                </a:solidFill>
              </a:rPr>
              <a:t>WITH DSPy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084064"/>
            <a:ext cx="1127455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1755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Avg. output size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39" y="51755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~6,200 chars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51755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202C"/>
                </a:solidFill>
              </a:rPr>
              <a:t>~4,300 chars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504688"/>
            <a:ext cx="11274552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5961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Fields per email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5961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9181A"/>
                </a:solidFill>
              </a:rPr>
              <a:t>40–60 (flat)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5961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7B47"/>
                </a:solidFill>
              </a:rPr>
              <a:t>18–26 (nested)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25312"/>
            <a:ext cx="1127455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0167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Irrelevant drops per email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39" y="60167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9181A"/>
                </a:solidFill>
              </a:rPr>
              <a:t>8–12 fields dropped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0167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7B47"/>
                </a:solidFill>
              </a:rPr>
              <a:t>0–2 fields dropped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345936"/>
            <a:ext cx="11274552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4373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C"/>
                </a:solidFill>
              </a:rPr>
              <a:t>Validation summary sentence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39" y="64373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9181A"/>
                </a:solidFill>
              </a:rPr>
              <a:t>Not present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64373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7B47"/>
                </a:solidFill>
              </a:rPr>
              <a:t>Always present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Validation Quality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Comparing how effectively each pipeline surfaces real risks and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Six real scenarios — what did each pipeline catch?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89888"/>
            <a:ext cx="3657600" cy="292608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08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WITHOUT DSPy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389888"/>
            <a:ext cx="36576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408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 DSPy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89888"/>
            <a:ext cx="3611880" cy="292608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081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5564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8470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AMC scope undefined
(email 01 — Welding Robots)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755648"/>
            <a:ext cx="3657600" cy="148132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755648"/>
            <a:ext cx="164592" cy="14813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938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risk_flags: []  — missed entirely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5564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75564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1938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risk_flags includes: 'AMC pricing scope
and duration are undefined'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1012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Warranty terms vague
(email 01, 03)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310128"/>
            <a:ext cx="3657600" cy="148132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3310128"/>
            <a:ext cx="164592" cy="14813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34930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risk_flags: []  — missed entirely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31012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331012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34930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risk_flags: 'Warranty terms are vague
and lack specifics'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6460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4956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No defect SLA stated
(email 04 — OLED Panels)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4864608"/>
            <a:ext cx="3657600" cy="148132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4864608"/>
            <a:ext cx="164592" cy="14813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5047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Not flagged; field left empty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86460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486460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4" y="5047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defect_rate_sla filled with
'&lt;=0.5% (industry standard for AMOLED)'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175564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18470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No RFQ reference number
(emails 02, 04, 07)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1755648"/>
            <a:ext cx="3657600" cy="1481328"/>
          </a:xfrm>
          <a:prstGeom prst="rect">
            <a:avLst/>
          </a:prstGeom>
          <a:solidFill>
            <a:srgbClr val="FFEDC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1755648"/>
            <a:ext cx="164592" cy="14813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1938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In missing_critical_fields list
but risk_flags: []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175564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63840" y="175564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4" y="1938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risk_flags: 'Missing RFQ reference
or identifier'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31012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Budget tax-inclusive?
(email 02 — EUR 18M)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310128"/>
            <a:ext cx="3657600" cy="1481328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3310128"/>
            <a:ext cx="164592" cy="14813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4" y="34930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Not mentioned in output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31012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63840" y="331012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4" y="349300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inconsistencies: 'Clarification
needed on EUR 18M tax inclusion'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64608"/>
            <a:ext cx="3611880" cy="1481328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4956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Phased delivery risk
(email 07 — 3 phases)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4864608"/>
            <a:ext cx="3657600" cy="1481328"/>
          </a:xfrm>
          <a:prstGeom prst="rect">
            <a:avLst/>
          </a:prstGeom>
          <a:solidFill>
            <a:srgbClr val="FFEDC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0" y="4864608"/>
            <a:ext cx="164592" cy="14813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52544" y="5047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timeline_assessment: 'realistic'
— no per-phase risk noted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4864608"/>
            <a:ext cx="3657600" cy="1481328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3840" y="4864608"/>
            <a:ext cx="164592" cy="14813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4" y="5047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open_items flags AMC terms
and equivalent model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Handling Unseen Domains &amp; Unfamiliar Email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Which pipeline generalises better when a brand-new domain arrives?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If an email arrives from a domain neither pipeline has seen (e.g. pharmaceutical cold-chain, satellite components, carbon credit trading) — how does each pipeline respond?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944368" cy="329184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554480"/>
            <a:ext cx="3858768" cy="329184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554480"/>
            <a:ext cx="3858768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581912"/>
            <a:ext cx="3858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WITHOUT DSPy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81912"/>
            <a:ext cx="3858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 DSPy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29443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993392"/>
            <a:ext cx="27614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Schema generation
for new 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920240"/>
            <a:ext cx="3858768" cy="107899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1920240"/>
            <a:ext cx="128016" cy="107899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993392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Falls back to a hardcoded IT/SaaS template.
Expect os_preference, cybersecurity_standard,
data_residency on a pharma cold-chain RFQ.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920240"/>
            <a:ext cx="3858768" cy="1078992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920240"/>
            <a:ext cx="128016" cy="107899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993392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DSPy derives fields from the domain + record_type
classified by Agent1. Novel domain = novel schema.
No template contamination.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35808"/>
            <a:ext cx="2944368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108960"/>
            <a:ext cx="27614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Domain classification
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6432" y="3035808"/>
            <a:ext cx="3858768" cy="107899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6432" y="3035808"/>
            <a:ext cx="128016" cy="107899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108960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Limited to hard-coded buckets (manufacturing, IT,
retail, fleet). Novel domains get mis-mapped.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035808"/>
            <a:ext cx="3858768" cy="1078992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3035808"/>
            <a:ext cx="128016" cy="107899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3108960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Agent1 uses open-ended free-text: 'domain = subject area'.
Any label is valid. DSPy audit adapts to it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29443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224528"/>
            <a:ext cx="27614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Field contamination
under new domain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56432" y="4151376"/>
            <a:ext cx="3858768" cy="107899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6432" y="4151376"/>
            <a:ext cx="128016" cy="107899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224528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High — IT/SaaS fields already bleed into every
non-IT email. A novel domain adds more noise.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4151376"/>
            <a:ext cx="3858768" cy="1078992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0920" y="4151376"/>
            <a:ext cx="128016" cy="107899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4224528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Near-zero. DSPy StructuralAudit is conditioned on the
detected domain per-run. No fixed field list to bleed from.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266944"/>
            <a:ext cx="2944368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340096"/>
            <a:ext cx="27614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Robustness to unusual
email 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6432" y="5266944"/>
            <a:ext cx="3858768" cy="1078992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56432" y="5266944"/>
            <a:ext cx="128016" cy="107899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340096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Agent1 prompt expects specific sections
(FINANCIAL, DATES, etc.). Non-standard layouts
lead to missed fields.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5266944"/>
            <a:ext cx="3858768" cy="1078992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5266944"/>
            <a:ext cx="128016" cy="107899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62088" y="5340096"/>
            <a:ext cx="3602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Agent1 forensic extraction is open-ended.
DSPy audit fills structural gaps per detected domain —
not per a fixed template.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Verdict:  With DSPy handles unseen domains significantly better — schema is derived from context, not loaded from a hardcoded template.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Prioritised actions based on evaluation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01168" cy="1024128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097280"/>
            <a:ext cx="868680" cy="25603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10642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0972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Adopt the DSPy pipeline as production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0817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Scores 25.1/30 vs 17.7/30. Cleaner schema, zero domain contamination, honest risk flagging, and robust handling of unseen domains.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201168" cy="1024128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2194560"/>
            <a:ext cx="868680" cy="256032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203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1945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Fix the 3 minor DSPy issues before 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50545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1) Cap completeness = 'mostly_complete' when &gt; 20% of fields are inferred.  2) Enforce open_items as array type in the StructuralAudit DSPy signature.  3) Add 'rfq' to the valid record_type vocabulary in Agent1's instructions.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01168" cy="102412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3291840"/>
            <a:ext cx="868680" cy="25603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30098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RETIRE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2918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Decommission the 3-agent prompt-only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60273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IT/SaaS template bleed in Agent2 is a structural design flaw — not fixable with prompt tweaks. The pipeline architecture needs replacing, not patching.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201168" cy="10241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389120"/>
            <a:ext cx="868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3982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ENHANCE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3891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Compile DSPy StructuralAudit with BootstrapFewShot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70001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middle stage runs zero-shot today. Adding 5-10 few-shot examples per domain via BootstrapFewShot would likely push coverage scores from 7-8 to 9-10.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94960"/>
            <a:ext cx="11274552" cy="1024128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201168" cy="1024128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5486400"/>
            <a:ext cx="868680" cy="256032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495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EXTEND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486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02C"/>
                </a:solidFill>
              </a:rPr>
              <a:t>Validate on emails 08-10 (Kitchen Equipment, Govt Tender, Aluminium Supply)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79729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These represent hospitality, government procurement, and commodity contracts — three domain types not yet fully evaluated. Good stress-test for the DSPy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